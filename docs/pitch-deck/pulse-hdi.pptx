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651760"/>
            <a:ext cx="137160" cy="109728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Menlo"/>
              </a:rPr>
              <a:t>HDI · SF Bay Area · Vendor-health tooling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1" i="0">
                <a:solidFill>
                  <a:srgbClr val="F8FAFC"/>
                </a:solidFill>
                <a:latin typeface="Helvetica Neue"/>
              </a:rPr>
              <a:t>Pulse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94A3B8"/>
                </a:solidFill>
                <a:latin typeface="Helvetica Neue"/>
              </a:rPr>
              <a:t>Production-grade vendor-health monitoring for IT ops.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548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64748B"/>
                </a:solidFill>
                <a:latin typeface="Helvetica Neue"/>
              </a:rPr>
              <a:t>Thirty SaaS vendors. Sixty-second cadence. Two hundred seventy-six tests.</a:t>
            </a:r>
          </a:p>
          <a:p>
            <a:pPr algn="l"/>
            <a:r>
              <a:rPr sz="1400" b="0" i="0">
                <a:solidFill>
                  <a:srgbClr val="64748B"/>
                </a:solidFill>
                <a:latin typeface="Helvetica Neue"/>
              </a:rPr>
              <a:t>Built at Box IT as a Platform Engineer transition proof point.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035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Menlo"/>
              </a:rPr>
              <a:t>Saagar Patel · Box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035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Menlo"/>
              </a:rPr>
              <a:t>github.com/saagpatel/ITServiceHealth · MIT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Menlo"/>
              </a:rPr>
              <a:t>01 ·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8FAFC"/>
                </a:solidFill>
                <a:latin typeface="Helvetica Neue"/>
              </a:rPr>
              <a:t>The vendor-health signal is broken at the operator's desk.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486400" cy="219456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6350">
            <a:solidFill>
              <a:srgbClr val="2A34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011680"/>
            <a:ext cx="45720" cy="45720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Helvetica Neue"/>
              </a:rPr>
              <a:t>30+ SaaS vendors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51460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Helvetica Neue"/>
              </a:rPr>
              <a:t>Identity, productivity, collaboration, engineering, HR, finance, sales, marketing, support. Every outage reaches the help desk before the status page does.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737360"/>
            <a:ext cx="5486400" cy="219456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6350">
            <a:solidFill>
              <a:srgbClr val="2A34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92240" y="2011680"/>
            <a:ext cx="45720" cy="45720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196596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Helvetica Neue"/>
              </a:rPr>
              <a:t>Status pages lag reality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251460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Helvetica Neue"/>
              </a:rPr>
              <a:t>Vendors mark themselves green while users flood #it-help. RSS is stale. JSON APIs don't agree on a schema. Manual updates go stale within the hour.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160520"/>
            <a:ext cx="5486400" cy="219456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6350">
            <a:solidFill>
              <a:srgbClr val="2A34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4434840"/>
            <a:ext cx="45720" cy="45720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8912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Helvetica Neue"/>
              </a:rPr>
              <a:t>Slack becomes the war room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93776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Helvetica Neue"/>
              </a:rPr>
              <a:t>No dedup. No severity routing. Alerts arrive on the same channel as brownouts, flapping pollers, and vendor maintenance windows no one acknowledged.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4160520"/>
            <a:ext cx="5486400" cy="219456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6350">
            <a:solidFill>
              <a:srgbClr val="2A34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92240" y="4434840"/>
            <a:ext cx="45720" cy="45720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20840" y="438912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Helvetica Neue"/>
              </a:rPr>
              <a:t>Leadership asks: is it us?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493776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Helvetica Neue"/>
              </a:rPr>
              <a:t>Exec walks up to the big screen and wants one number. The NOC wall shows 80 service tiles and a timeline. That is not the meter a director reads.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enlo"/>
              </a:rPr>
              <a:t>02 / 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Menlo"/>
              </a:rPr>
              <a:t>Pulse · HDI SF Bay Area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Menlo"/>
              </a:rPr>
              <a:t>02 · WHAT WE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8FAFC"/>
                </a:solidFill>
                <a:latin typeface="Helvetica Neue"/>
              </a:rPr>
              <a:t>One dashboard. Two views. Production-graded.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667512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F1F5F9"/>
                </a:solidFill>
                <a:latin typeface="Helvetica Neue"/>
              </a:rPr>
              <a:t>Pulse polls every vendor, normalizes five states, detects changes, writes audit events, and posts one clean Slack alert per real incident. Two views off the same data: Executive for the conference room, Engineer for the triage desk.</a:t>
            </a:r>
          </a:p>
        </p:txBody>
      </p:sp>
      <p:sp>
        <p:nvSpPr>
          <p:cNvPr id="6" name="Rectangle 5"/>
          <p:cNvSpPr/>
          <p:nvPr/>
        </p:nvSpPr>
        <p:spPr>
          <a:xfrm>
            <a:off x="7589520" y="1856232"/>
            <a:ext cx="73152" cy="457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82880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Menlo"/>
              </a:rPr>
              <a:t>v1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075688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Helvetica Neue"/>
              </a:rPr>
              <a:t>Poll loop · 5-state normalizer · Slack Block Kit · React UI · dep graph · timeline · SLA</a:t>
            </a:r>
          </a:p>
        </p:txBody>
      </p:sp>
      <p:sp>
        <p:nvSpPr>
          <p:cNvPr id="9" name="Rectangle 8"/>
          <p:cNvSpPr/>
          <p:nvPr/>
        </p:nvSpPr>
        <p:spPr>
          <a:xfrm>
            <a:off x="7589520" y="2514600"/>
            <a:ext cx="73152" cy="45720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248716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Menlo"/>
              </a:rPr>
              <a:t>v2 · phase 0-1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2734056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Helvetica Neue"/>
              </a:rPr>
              <a:t>Bearer-token admin auth · stamina retries · purgatory circuit breakers · poller_health · unknown-on-blind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89520" y="3172968"/>
            <a:ext cx="73152" cy="45720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18120" y="314553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Menlo"/>
              </a:rPr>
              <a:t>v2 · phase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3392424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Helvetica Neue"/>
              </a:rPr>
              <a:t>Flap suppression · dedup window · tier routing · dependency correlation · maintenance windows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9520" y="3831336"/>
            <a:ext cx="73152" cy="45720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18120" y="38039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Menlo"/>
              </a:rPr>
              <a:t>v2 · phase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4050792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Helvetica Neue"/>
              </a:rPr>
              <a:t>structlog JSON · Prometheus /metrics · Sentry · Healthchecks.io dead-man's switch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89520" y="4489704"/>
            <a:ext cx="73152" cy="45720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18120" y="446227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Menlo"/>
              </a:rPr>
              <a:t>v2 · phase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4709160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Helvetica Neue"/>
              </a:rPr>
              <a:t>aiosqlite pool · Litestream streaming · daily VACUUM INTO · retention · WAL checkpointing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89520" y="5148072"/>
            <a:ext cx="73152" cy="45720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18120" y="51206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Menlo"/>
              </a:rPr>
              <a:t>v2 · phase 5-6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18120" y="5367528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Helvetica Neue"/>
              </a:rPr>
              <a:t>TanStack-style polling · Executive/Engineer toggle · PWA · a11y · CI · Caddy · Keychain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577840"/>
            <a:ext cx="2834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Helvetica Neue"/>
              </a:rPr>
              <a:t>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08076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Menlo"/>
              </a:rPr>
              <a:t>SaaS vendors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29000" y="5577840"/>
            <a:ext cx="2834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Helvetica Neue"/>
              </a:rPr>
              <a:t>60 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29000" y="608076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Menlo"/>
              </a:rPr>
              <a:t>poll cadence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5577840"/>
            <a:ext cx="2834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Helvetica Neue"/>
              </a:rPr>
              <a:t>276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608076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Menlo"/>
              </a:rPr>
              <a:t>tests passing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5577840"/>
            <a:ext cx="2834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Helvetica Neue"/>
              </a:rPr>
              <a:t>~1 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9720" y="608076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Menlo"/>
              </a:rPr>
              <a:t>RPO · Litestream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enlo"/>
              </a:rPr>
              <a:t>03 / 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Menlo"/>
              </a:rPr>
              <a:t>Pulse · HDI SF Bay Area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Menlo"/>
              </a:rPr>
              <a:t>03 · EXECUTIVE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8FAFC"/>
                </a:solidFill>
                <a:latin typeface="Helvetica Neue"/>
              </a:rPr>
              <a:t>One panel. Three meters. Read it from the back of the room.</a:t>
            </a:r>
          </a:p>
        </p:txBody>
      </p:sp>
      <p:pic>
        <p:nvPicPr>
          <p:cNvPr id="5" name="Picture 4" descr="exec-maj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1339" y="1691640"/>
            <a:ext cx="8129016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031339" y="6309360"/>
            <a:ext cx="81290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  <a:latin typeface="Menlo"/>
              </a:rPr>
              <a:t>Executive view · rendered at 1920x1080 · 2 active incidents state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enlo"/>
              </a:rPr>
              <a:t>04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Menlo"/>
              </a:rPr>
              <a:t>Pulse · HDI SF Bay Area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Menlo"/>
              </a:rPr>
              <a:t>04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8FAFC"/>
                </a:solidFill>
                <a:latin typeface="Helvetica Neue"/>
              </a:rPr>
              <a:t>Vendor pages → resilient poll → alert hygiene → dashboard.</a:t>
            </a:r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7494" y="1691640"/>
            <a:ext cx="5916705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137494" y="6309360"/>
            <a:ext cx="591670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  <a:latin typeface="Menlo"/>
              </a:rPr>
              <a:t>Landscape architecture · resilience + alert + observability lanes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enlo"/>
              </a:rPr>
              <a:t>05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Menlo"/>
              </a:rPr>
              <a:t>Pulse · HDI SF Bay Area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Menlo"/>
              </a:rPr>
              <a:t>05 · RESILIENCE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8FAFC"/>
                </a:solidFill>
                <a:latin typeface="Helvetica Neue"/>
              </a:rPr>
              <a:t>Vendor APIs misbehave. The poller does not.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5486400" cy="402336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6350">
            <a:solidFill>
              <a:srgbClr val="2A34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Helvetica Neue"/>
              </a:rPr>
              <a:t>stamina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9748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Helvetica Neue"/>
              </a:rPr>
              <a:t>Exponential backoff with jitter on every outbound call.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52044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1F5F9"/>
                </a:solidFill>
                <a:latin typeface="Helvetica Neue"/>
              </a:rPr>
              <a:t>· retry budget · 3 attempts with exponential base 0.5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0233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1F5F9"/>
                </a:solidFill>
                <a:latin typeface="Helvetica Neue"/>
              </a:rPr>
              <a:t>· jitter · ±250 ms so we don't synchronise across services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262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1F5F9"/>
                </a:solidFill>
                <a:latin typeface="Helvetica Neue"/>
              </a:rPr>
              <a:t>· timeout · 10 s read · 5 s connect · no blocking I/O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0292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1F5F9"/>
                </a:solidFill>
                <a:latin typeface="Helvetica Neue"/>
              </a:rPr>
              <a:t>· observability · every retry labeled with vendor + attempt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783080"/>
            <a:ext cx="5486400" cy="402336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5875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10312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Helvetica Neue"/>
              </a:rPr>
              <a:t>purgatory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69748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Helvetica Neue"/>
              </a:rPr>
              <a:t>Per-host circuit breaker. Blind is not operational.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352044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1F5F9"/>
                </a:solidFill>
                <a:latin typeface="Helvetica Neue"/>
              </a:rPr>
              <a:t>· 3 consecutive failures · breaker opens for 300 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40233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1F5F9"/>
                </a:solidFill>
                <a:latin typeface="Helvetica Neue"/>
              </a:rPr>
              <a:t>· half-open probe · one attempt after TTL before closing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45262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1F5F9"/>
                </a:solidFill>
                <a:latin typeface="Helvetica Neue"/>
              </a:rPr>
              <a:t>· poller_health flips · service renders as unknown, not operational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50292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1F5F9"/>
                </a:solidFill>
                <a:latin typeface="Helvetica Neue"/>
              </a:rPr>
              <a:t>· Slack notification · separate channel from incident alerts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EF4444"/>
                </a:solidFill>
                <a:latin typeface="Helvetica Neue"/>
              </a:rPr>
              <a:t>Rule: if we cannot see the vendor, we do not claim they are up. This is the single dashboard bug you cannot ship with.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enlo"/>
              </a:rPr>
              <a:t>06 / 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Menlo"/>
              </a:rPr>
              <a:t>Pulse · HDI SF Bay Area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Menlo"/>
              </a:rPr>
              <a:t>06 · ALERT HYGIENE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8FAFC"/>
                </a:solidFill>
                <a:latin typeface="Helvetica Neue"/>
              </a:rPr>
              <a:t>One message per real incident. No one wakes up twice.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745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F8FAFC"/>
                </a:solidFill>
                <a:latin typeface="Menl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78308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8FAFC"/>
                </a:solidFill>
                <a:latin typeface="Helvetica Neue"/>
              </a:rPr>
              <a:t>Flap suppression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783080"/>
            <a:ext cx="6492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Helvetica Neue"/>
              </a:rPr>
              <a:t>3 consecutive confirming polls before worsening alerts fire. Minimum state duration of 600 s. Recovery requires 2 consecutive operational polls.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87752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679192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F8FAFC"/>
                </a:solidFill>
                <a:latin typeface="Menlo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587752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8FAFC"/>
                </a:solidFill>
                <a:latin typeface="Helvetica Neue"/>
              </a:rPr>
              <a:t>Deduplication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2587752"/>
            <a:ext cx="6492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Helvetica Neue"/>
              </a:rPr>
              <a:t>Alert dedup keyed on vendor_incident_id, not message text. One-day window by default. Same incident cannot re-page on every poll.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392424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483864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F8FAFC"/>
                </a:solidFill>
                <a:latin typeface="Menlo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392424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8FAFC"/>
                </a:solidFill>
                <a:latin typeface="Helvetica Neue"/>
              </a:rPr>
              <a:t>Tier routing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800" y="3392424"/>
            <a:ext cx="6492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Helvetica Neue"/>
              </a:rPr>
              <a:t>Critical vs informational. Tier picks destination channel and Slack priority. Degraded-brownout and major-outage do not share a notification surface.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97096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288536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F8FAFC"/>
                </a:solidFill>
                <a:latin typeface="Menlo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97096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8FAFC"/>
                </a:solidFill>
                <a:latin typeface="Helvetica Neue"/>
              </a:rPr>
              <a:t>Dependency correlation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4197096"/>
            <a:ext cx="6492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Helvetica Neue"/>
              </a:rPr>
              <a:t>When Okta goes down, we send one aggregated upstream alert instead of cascading alerts for every dependent service. Threshold is configurable.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001768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093208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F8FAFC"/>
                </a:solidFill>
                <a:latin typeface="Menlo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500176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8FAFC"/>
                </a:solidFill>
                <a:latin typeface="Helvetica Neue"/>
              </a:rPr>
              <a:t>Maintenance windows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7800" y="5001768"/>
            <a:ext cx="6492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Helvetica Neue"/>
              </a:rPr>
              <a:t>First-class DB table. Scheduled vendor windows suppress alerts for the duration. Auto-populated from vendor feeds; manual windows supported.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Menlo"/>
              </a:rPr>
              <a:t>Env-tunable: ALERT_CONFIRM_THRESHOLD_POLLS · ALERT_DEDUP_WINDOW_SECONDS · DEPENDENCY_CORRELATION_THRESHOLD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enlo"/>
              </a:rPr>
              <a:t>07 / 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Menlo"/>
              </a:rPr>
              <a:t>Pulse · HDI SF Bay Area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Menlo"/>
              </a:rPr>
              <a:t>07 · OBSERVABILITY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8FAFC"/>
                </a:solidFill>
                <a:latin typeface="Helvetica Neue"/>
              </a:rPr>
              <a:t>If the dashboard were down, I would know in 30 seconds.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2743200" cy="402336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6350">
            <a:solidFill>
              <a:srgbClr val="2A34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8FAFC"/>
                </a:solidFill>
                <a:latin typeface="Helvetica Neue"/>
              </a:rPr>
              <a:t>structlog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Menlo"/>
              </a:rPr>
              <a:t>JSON logs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00400"/>
            <a:ext cx="20116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Helvetica Neue"/>
              </a:rPr>
              <a:t>Every request, poll, and alert carries a correlation id. WatchedFileHandler survives logrotate.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01568" y="1783080"/>
            <a:ext cx="2743200" cy="402336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6350">
            <a:solidFill>
              <a:srgbClr val="2A34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5888" y="214884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8FAFC"/>
                </a:solidFill>
                <a:latin typeface="Helvetica Neue"/>
              </a:rPr>
              <a:t>Prometheus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67328" y="274320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Menlo"/>
              </a:rPr>
              <a:t>/metrics exposition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67328" y="3200400"/>
            <a:ext cx="20116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Helvetica Neue"/>
              </a:rPr>
              <a:t>Poll latency, breaker state, alert dispatches, SLA percentage per service. Scrapeable by any text-format collector.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54496" y="1783080"/>
            <a:ext cx="2743200" cy="402336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6350">
            <a:solidFill>
              <a:srgbClr val="2A34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28816" y="214884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8FAFC"/>
                </a:solidFill>
                <a:latin typeface="Helvetica Neue"/>
              </a:rPr>
              <a:t>Sentry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0256" y="274320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Menlo"/>
              </a:rPr>
              <a:t>Exception capture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0256" y="3200400"/>
            <a:ext cx="20116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Helvetica Neue"/>
              </a:rPr>
              <a:t>Unhandled exceptions reported with release tag. Traces optional. Default sample rate zero.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07424" y="1783080"/>
            <a:ext cx="2743200" cy="402336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6350">
            <a:solidFill>
              <a:srgbClr val="2A34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81744" y="214884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8FAFC"/>
                </a:solidFill>
                <a:latin typeface="Helvetica Neue"/>
              </a:rPr>
              <a:t>Healthchecks.io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73184" y="274320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Menlo"/>
              </a:rPr>
              <a:t>Dead-man's switch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73184" y="3200400"/>
            <a:ext cx="20116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Helvetica Neue"/>
              </a:rPr>
              <a:t>30-second heartbeat. /healthz returns 503 past 120 s. External observer notices silence even if monitoring itself is dead.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F1F5F9"/>
                </a:solidFill>
                <a:latin typeface="Helvetica Neue"/>
              </a:rPr>
              <a:t>Rule: every layer reports independently. The poller, the API, the writer, and the browser all answer the question is this alive?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enlo"/>
              </a:rPr>
              <a:t>08 / 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Menlo"/>
              </a:rPr>
              <a:t>Pulse · HDI SF Bay Area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Menlo"/>
              </a:rPr>
              <a:t>08 ·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8FAFC"/>
                </a:solidFill>
                <a:latin typeface="Helvetica Neue"/>
              </a:rPr>
              <a:t>Shipped. In tree. Production-graded. Boring by design.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2743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1" i="0">
                <a:solidFill>
                  <a:srgbClr val="F8FAFC"/>
                </a:solidFill>
                <a:latin typeface="Helvetica Neue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20116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  <a:latin typeface="Menlo"/>
              </a:rPr>
              <a:t>production phases shipped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88920"/>
            <a:ext cx="2743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1" i="0">
                <a:solidFill>
                  <a:srgbClr val="F8FAFC"/>
                </a:solidFill>
                <a:latin typeface="Helvetica Neue"/>
              </a:rPr>
              <a:t>276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30175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  <a:latin typeface="Menlo"/>
              </a:rPr>
              <a:t>tests passing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94760"/>
            <a:ext cx="2743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1" i="0">
                <a:solidFill>
                  <a:srgbClr val="F8FAFC"/>
                </a:solidFill>
                <a:latin typeface="Helvetica Neue"/>
              </a:rPr>
              <a:t>~1 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40233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  <a:latin typeface="Menlo"/>
              </a:rPr>
              <a:t>RPO · Litestream streaming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00600"/>
            <a:ext cx="2743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1" i="0">
                <a:solidFill>
                  <a:srgbClr val="F8FAFC"/>
                </a:solidFill>
                <a:latin typeface="Helvetica Neue"/>
              </a:rPr>
              <a:t>&lt; 30 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50292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  <a:latin typeface="Menlo"/>
              </a:rPr>
              <a:t>p50 vendor-status detection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1783080"/>
            <a:ext cx="4572000" cy="402336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6350">
            <a:solidFill>
              <a:srgbClr val="2A34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0" y="2057400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8FAFC"/>
                </a:solidFill>
                <a:latin typeface="Helvetica Neue"/>
              </a:rPr>
              <a:t>Before → After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0" y="27889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Menlo"/>
              </a:rPr>
              <a:t>Detection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9640" y="278892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Helvetica Neue"/>
              </a:rPr>
              <a:t>user reports in 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27889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Menlo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0" y="2788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1F5F9"/>
                </a:solidFill>
                <a:latin typeface="Helvetica Neue"/>
              </a:rPr>
              <a:t>60 s poll + dedup alert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0" y="33558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Menlo"/>
              </a:rPr>
              <a:t>Reliability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3355848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Helvetica Neue"/>
              </a:rPr>
              <a:t>vendor page = truth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6960" y="33558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Menlo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335584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1F5F9"/>
                </a:solidFill>
                <a:latin typeface="Helvetica Neue"/>
              </a:rPr>
              <a:t>blind = unknown, not green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0" y="39227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Menlo"/>
              </a:rPr>
              <a:t>Exec read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3922776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Helvetica Neue"/>
              </a:rPr>
              <a:t>80-tile NOC grid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0" y="392277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Menlo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392277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1F5F9"/>
                </a:solidFill>
                <a:latin typeface="Helvetica Neue"/>
              </a:rPr>
              <a:t>one panel · three meters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0" y="44897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Menlo"/>
              </a:rPr>
              <a:t>Alerts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9640" y="4489704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Helvetica Neue"/>
              </a:rPr>
              <a:t>one per poll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44897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Menlo"/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0" y="44897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1F5F9"/>
                </a:solidFill>
                <a:latin typeface="Helvetica Neue"/>
              </a:rPr>
              <a:t>one per real incident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0" y="505663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Menlo"/>
              </a:rPr>
              <a:t>Backups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9640" y="5056632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Helvetica Neue"/>
              </a:rPr>
              <a:t>none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0" y="50566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Menlo"/>
              </a:rPr>
              <a:t>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41280" y="505663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1F5F9"/>
                </a:solidFill>
                <a:latin typeface="Helvetica Neue"/>
              </a:rPr>
              <a:t>~1 s RPO + daily snapshot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  <a:latin typeface="Helvetica Neue"/>
              </a:rPr>
              <a:t>Not shipped: LLM summarization, Splunk / JSM / ThousandEyes / Datadog. Deferred on purpose.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enlo"/>
              </a:rPr>
              <a:t>09 / 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Menlo"/>
              </a:rPr>
              <a:t>Pulse · HDI SF Bay Area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011680"/>
            <a:ext cx="137160" cy="109728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Menlo"/>
              </a:rPr>
              <a:t>09 · PLATFORM ENGINEER 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31720"/>
            <a:ext cx="109728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8FAFC"/>
                </a:solidFill>
                <a:latin typeface="Helvetica Neue"/>
              </a:rPr>
              <a:t>This is what the job looks like</a:t>
            </a:r>
          </a:p>
          <a:p>
            <a:pPr algn="l"/>
            <a:r>
              <a:rPr sz="4000" b="1" i="0">
                <a:solidFill>
                  <a:srgbClr val="F8FAFC"/>
                </a:solidFill>
                <a:latin typeface="Helvetica Neue"/>
              </a:rPr>
              <a:t>from this side of the help-desk.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23360"/>
            <a:ext cx="107899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94A3B8"/>
                </a:solidFill>
                <a:latin typeface="Helvetica Neue"/>
              </a:rPr>
              <a:t>Pulse is not a side project. It is the shape of the work: listen to vendor signal end-to-end, design resilience gates before you write business logic, refuse to claim green when you are blind, put one meter in the room that a director can read. IT support told me where the pain was. Platform engineering is what I did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806440"/>
            <a:ext cx="11064240" cy="12700"/>
          </a:xfrm>
          <a:prstGeom prst="rect">
            <a:avLst/>
          </a:prstGeom>
          <a:solidFill>
            <a:srgbClr val="2A34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9893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Menlo"/>
              </a:rPr>
              <a:t>If you operate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1792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Helvetica Neue"/>
              </a:rPr>
              <a:t>Steal the five alert-hygiene layers.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59893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Menlo"/>
              </a:rPr>
              <a:t>If you procure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621792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Helvetica Neue"/>
              </a:rPr>
              <a:t>Ask vendors for these five guarantees, not feature lists.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59893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Menlo"/>
              </a:rPr>
              <a:t>If you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621792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Helvetica Neue"/>
              </a:rPr>
              <a:t>Clone it. MIT. github.com/saagpatel/ITServiceHealth.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enlo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